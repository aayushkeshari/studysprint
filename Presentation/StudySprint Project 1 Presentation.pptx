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00503000000020004" pitchFamily="2" charset="0"/>
      <p:regular r:id="rId12"/>
      <p:bold r:id="rId13"/>
      <p:italic r:id="rId14"/>
      <p:boldItalic r:id="rId15"/>
    </p:embeddedFont>
    <p:embeddedFont>
      <p:font typeface="JetBrains Mono" panose="02000009000000000000" pitchFamily="49" charset="0"/>
      <p:regular r:id="rId16"/>
      <p:bold r:id="rId17"/>
      <p:italic r:id="rId18"/>
      <p:boldItalic r:id="rId19"/>
    </p:embeddedFont>
    <p:embeddedFont>
      <p:font typeface="Space Grotesk" pitchFamily="2" charset="77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284C02-9F62-4427-82D3-951FD9ACDC9A}">
  <a:tblStyle styleId="{4A284C02-9F62-4427-82D3-951FD9ACDC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1"/>
    <p:restoredTop sz="94683"/>
  </p:normalViewPr>
  <p:slideViewPr>
    <p:cSldViewPr snapToGrid="0">
      <p:cViewPr>
        <p:scale>
          <a:sx n="134" d="100"/>
          <a:sy n="134" d="100"/>
        </p:scale>
        <p:origin x="304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5faa8f37b8af86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h5faa8f37b8af86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62000" y="2297459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CS 4005 • PROJECT 1 SHOWCASE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621309"/>
            <a:ext cx="1062632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StudySprint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440459"/>
            <a:ext cx="65722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Active recall and spaced-repetition vocabulary workbench built with Svelte 5 and Vite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370040"/>
            <a:ext cx="375046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Live: study-sprint-wheat.vercel.app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67200" y="4374802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Aayush Keshari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62000" y="2621309"/>
            <a:ext cx="10626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About Me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3440459"/>
            <a:ext cx="6572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Aayush Keshari</a:t>
            </a:r>
            <a:endParaRPr sz="16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https://github.com/aayushkeshari</a:t>
            </a:r>
            <a:endParaRPr sz="16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762000" y="2939355"/>
            <a:ext cx="3403550" cy="198120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394150" y="2939355"/>
            <a:ext cx="3403550" cy="198120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8026300" y="2939355"/>
            <a:ext cx="3403550" cy="198120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225" y="32536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0375" y="32536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2525" y="32536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3679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5150" y="336798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6825" y="33679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01 • THE CHALLENGE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Friction in Technical Vocabulary Retrieval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38225" y="3825180"/>
            <a:ext cx="37420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Cluttered Workflows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38225" y="4149030"/>
            <a:ext cx="294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Legacy study platforms bury card practice behind multi-step menus.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70375" y="3825180"/>
            <a:ext cx="37420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Mouse Latency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70375" y="4149030"/>
            <a:ext cx="294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Constant pointer switching breaks cognitive flow during rapid review.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302525" y="3825180"/>
            <a:ext cx="37420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Siloed Data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02525" y="4149030"/>
            <a:ext cx="294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Card editing separated from practice interfaces creates cognitive drag.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762000" y="2337792"/>
            <a:ext cx="5642371" cy="3326355"/>
          </a:xfrm>
          <a:prstGeom prst="roundRect">
            <a:avLst>
              <a:gd name="adj" fmla="val 4238"/>
            </a:avLst>
          </a:prstGeom>
          <a:solidFill>
            <a:srgbClr val="090D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785371" y="2820292"/>
            <a:ext cx="464462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785371" y="3610867"/>
            <a:ext cx="464462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785371" y="4401442"/>
            <a:ext cx="464462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785371" y="2820292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785371" y="3610867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785371" y="4401442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02 • ARCHITECTURE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Modern State Model via Svelte 5 Runes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71282" y="2559799"/>
            <a:ext cx="167191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deckState.svelte.js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1071282" y="2820292"/>
            <a:ext cx="5204221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export class DeckManager { </a:t>
            </a:r>
          </a:p>
          <a:p>
            <a:pPr lvl="2">
              <a:lnSpc>
                <a:spcPct val="159904"/>
              </a:lnSpc>
            </a:pPr>
            <a:r>
              <a:rPr lang="en-US" sz="105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cards = $state([]); </a:t>
            </a:r>
          </a:p>
          <a:p>
            <a:pPr lvl="2">
              <a:lnSpc>
                <a:spcPct val="159904"/>
              </a:lnSpc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activeFilter = $state('ALL’); </a:t>
            </a:r>
          </a:p>
          <a:p>
            <a:pPr lvl="2">
              <a:lnSpc>
                <a:spcPct val="159904"/>
              </a:lnSpc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currentIndex = $state(0); </a:t>
            </a:r>
          </a:p>
          <a:p>
            <a:pPr lvl="2">
              <a:lnSpc>
                <a:spcPct val="159904"/>
              </a:lnSpc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isFlipped = $state(false);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currentCard() {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const pool = this.filteredCards;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return pool[this.currentIndex % pool.length];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966346" y="2820292"/>
            <a:ext cx="52256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Universal Reactivity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66346" y="3058417"/>
            <a:ext cx="45589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legacy Svelte stores; state lives cleanly inside domain classes.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966346" y="3610867"/>
            <a:ext cx="52256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External Dependencies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66346" y="3848992"/>
            <a:ext cx="45589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Client-side persistence guarded with native localStorage abstractions.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66346" y="4401442"/>
            <a:ext cx="522565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Defensive Index Bounds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66346" y="4639567"/>
            <a:ext cx="455890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Cyclic navigation guarantees zero out-of-bounds or undefined reads.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762000" y="2653605"/>
            <a:ext cx="106680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7"/>
          <p:cNvGraphicFramePr/>
          <p:nvPr/>
        </p:nvGraphicFramePr>
        <p:xfrm>
          <a:off x="771525" y="2663130"/>
          <a:ext cx="10648950" cy="2457500"/>
        </p:xfrm>
        <a:graphic>
          <a:graphicData uri="http://schemas.openxmlformats.org/drawingml/2006/table">
            <a:tbl>
              <a:tblPr>
                <a:noFill/>
                <a:tableStyleId>{4A284C02-9F62-4427-82D3-951FD9ACDC9A}</a:tableStyleId>
              </a:tblPr>
              <a:tblGrid>
                <a:gridCol w="126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Trigger Interface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State 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addCard(term, def, tag)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Manager fast-entry input strip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Generates UUID and appends card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00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currentCard, flipCard()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3D flashcard &amp; filter chips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Transforms 3D perspective surface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Update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updateMastery(), editCard()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Keys [1-3] &amp; table inline edits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Mutates tier and increments review counter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deleteCard(id)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Row action trash trigger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Filters array and clamps active index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03 • FUNCTIONAL SPECIFICATION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 CRUD Execution Matrix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762000" y="2973585"/>
            <a:ext cx="10668000" cy="552450"/>
          </a:xfrm>
          <a:prstGeom prst="roundRect">
            <a:avLst>
              <a:gd name="adj" fmla="val 2068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62000" y="1497210"/>
            <a:ext cx="340355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394150" y="1497210"/>
            <a:ext cx="340355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8026300" y="1497210"/>
            <a:ext cx="340355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04 • QUALITY ASSURANCE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Headless Vitest Test Verification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90600" y="3164085"/>
            <a:ext cx="59769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✓ tests/deck.test.js &gt; DeckManager CRUD Suite (TC-01 to TC-05)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9372600" y="3168848"/>
            <a:ext cx="2286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Mocked Storage Isolation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00125" y="1735335"/>
            <a:ext cx="3659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5/5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00125" y="2268735"/>
            <a:ext cx="3659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Assertions Passed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632275" y="1735335"/>
            <a:ext cx="3659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3ms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32275" y="2268735"/>
            <a:ext cx="3659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Execution Latency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264425" y="1735335"/>
            <a:ext cx="3659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264425" y="2268735"/>
            <a:ext cx="3659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CRUD Boundary Coverage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762000" y="1497210"/>
            <a:ext cx="5181600" cy="4827389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248400" y="1497210"/>
            <a:ext cx="5181600" cy="4827389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225" y="177819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177819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05 • GENAI EVALUATION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Experimental Learnings &amp; Failure Modes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323975" y="1773435"/>
            <a:ext cx="241280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Where AI Accelerated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133475" y="212586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209675" y="212586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 Matrix Scaffolding: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Produced boundary test cases for empty states and index wrapping.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33475" y="26783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209675" y="267831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Micro-Interaction Math: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Accelerated CSS 3D perspective transforms and keydown listener wiring.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33475" y="323076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209675" y="323076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Documentation Structuring: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Generated standardized markdown maps connecting UI elements to CRUD APIs.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810375" y="1773435"/>
            <a:ext cx="243780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Where AI Hallucinated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19875" y="212586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96075" y="212586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Svelte 4 Store Drift: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Recommended deprecated writable stores rather than modern Svelte 5 runes.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19875" y="26783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96075" y="267831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Config Hallucinations: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Produced invalid Rollup flags that broke the initial Vite dev server.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19875" y="323076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96075" y="3230760"/>
            <a:ext cx="455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Terminal Premature Pasting: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Generated multiline strings that trapped shell sessions in open heredocs.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/>
          <p:nvPr/>
        </p:nvSpPr>
        <p:spPr>
          <a:xfrm>
            <a:off x="762000" y="3154709"/>
            <a:ext cx="2552700" cy="1588591"/>
          </a:xfrm>
          <a:prstGeom prst="roundRect">
            <a:avLst>
              <a:gd name="adj" fmla="val 7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467100" y="3154709"/>
            <a:ext cx="2552700" cy="1588591"/>
          </a:xfrm>
          <a:prstGeom prst="roundRect">
            <a:avLst>
              <a:gd name="adj" fmla="val 7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172200" y="3154709"/>
            <a:ext cx="2552700" cy="1588591"/>
          </a:xfrm>
          <a:prstGeom prst="roundRect">
            <a:avLst>
              <a:gd name="adj" fmla="val 7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8877300" y="3154709"/>
            <a:ext cx="2552700" cy="1588591"/>
          </a:xfrm>
          <a:prstGeom prst="roundRect">
            <a:avLst>
              <a:gd name="adj" fmla="val 7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06 • PROTOCOL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Human-Guided AI Protocol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52500" y="3383309"/>
            <a:ext cx="2266950" cy="11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3657600" y="3383309"/>
            <a:ext cx="2266950" cy="11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362700" y="3383309"/>
            <a:ext cx="2266950" cy="11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067800" y="3383309"/>
            <a:ext cx="2266950" cy="11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62025" y="3697634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State Invariants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62025" y="3945284"/>
            <a:ext cx="22479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Human engineer manually defines domain contracts and boundaries.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3667125" y="3697634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Boundary Tests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667125" y="3945284"/>
            <a:ext cx="224790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generates comprehensive edge-case test suites ahead of UI wiring.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72225" y="3697634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Scaffolding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372225" y="3945284"/>
            <a:ext cx="22479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drafts component markup and CSS 3D perspective transforms.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077325" y="3697634"/>
            <a:ext cx="282535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Human Audit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077325" y="3945284"/>
            <a:ext cx="224790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Strict verification against modern framework docs and version standards.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3067050" y="4191000"/>
            <a:ext cx="2686050" cy="476250"/>
          </a:xfrm>
          <a:prstGeom prst="roundRect">
            <a:avLst>
              <a:gd name="adj" fmla="val 20000"/>
            </a:avLst>
          </a:prstGeom>
          <a:solidFill>
            <a:srgbClr val="181C24"/>
          </a:solidFill>
          <a:ln w="9525" cap="flat" cmpd="sng">
            <a:solidFill>
              <a:srgbClr val="272A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905500" y="4191000"/>
            <a:ext cx="3219450" cy="476250"/>
          </a:xfrm>
          <a:prstGeom prst="roundRect">
            <a:avLst>
              <a:gd name="adj" fmla="val 20000"/>
            </a:avLst>
          </a:prstGeom>
          <a:solidFill>
            <a:srgbClr val="181C24"/>
          </a:solidFill>
          <a:ln w="9525" cap="flat" cmpd="sng">
            <a:solidFill>
              <a:srgbClr val="272A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173842" y="2190750"/>
            <a:ext cx="184416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COMPLETE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733368" y="2514600"/>
            <a:ext cx="8725113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Ready for Production Review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524125" y="3333750"/>
            <a:ext cx="7143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Single-page Svelte 5 application with persistent local storage, verified by 5 headless unit tests.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2959893" y="4324350"/>
            <a:ext cx="290036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study-sprint-wheat.vercel.app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31668" y="4324350"/>
            <a:ext cx="356711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github.com/aayushkeshari/StudySprint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Macintosh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JetBrains Mono</vt:lpstr>
      <vt:lpstr>Space Grotesk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Keshari, Aayush (kesharah)</cp:lastModifiedBy>
  <cp:revision>1</cp:revision>
  <dcterms:modified xsi:type="dcterms:W3CDTF">2026-10-15T17:02:01Z</dcterms:modified>
</cp:coreProperties>
</file>